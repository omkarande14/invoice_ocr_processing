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AI-Powered Invoice OCR System</a:t>
            </a:r>
          </a:p>
          <a:p>
            <a:pPr>
              <a:defRPr sz="2200">
                <a:solidFill>
                  <a:srgbClr val="D7E1EB"/>
                </a:solidFill>
              </a:defRPr>
            </a:pPr>
            <a:r>
              <a:t>Automated Invoice Processing, OCR &amp; Data Extraction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977639"/>
            <a:ext cx="4541564" cy="7181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Project Progress &amp; Technical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Development Environment: Python + Antigravity 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Accept invoices in multiple formats.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Validate incoming files before processing.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Convert different document formats into a common image representation.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Detect duplicate documents and identify template similarity.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Correct orientation and prepare images for OCR.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Extract text, invoice fields, tables and line items.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Validate extracted information using business rules.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Produce structured output with full traceability.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Input &amp; Expected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JPG / JPEG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PNG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103120"/>
            <a:ext cx="3931920" cy="6400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63440" y="2103120"/>
            <a:ext cx="1188720" cy="6400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309360" y="2103120"/>
            <a:ext cx="1097280" cy="6400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514600"/>
            <a:ext cx="2926080" cy="7315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Invoice 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3246120"/>
            <a:ext cx="0" cy="502919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23360" y="3794760"/>
            <a:ext cx="4023360" cy="77724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Structured Invoice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Vendor details  •  Invoice number  •  Invoice date</a:t>
            </a:r>
          </a:p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GSTIN / tax details  •  Line items  •  Quantities / rates</a:t>
            </a:r>
          </a:p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Tax amounts  •  Grand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Overall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1143000"/>
            <a:ext cx="4389120" cy="411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Invoice Input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55448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86200" y="1737360"/>
            <a:ext cx="4389120" cy="411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Input Validation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14884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86200" y="2331720"/>
            <a:ext cx="4389120" cy="411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Image Conversion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74320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926080"/>
            <a:ext cx="4389120" cy="4114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Preprocessing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33756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86200" y="3520440"/>
            <a:ext cx="4389120" cy="4114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OCR 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93192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86200" y="4114800"/>
            <a:ext cx="4389120" cy="4114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Field &amp; Table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52628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86200" y="4709160"/>
            <a:ext cx="4389120" cy="4114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Verification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12064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86200" y="5303520"/>
            <a:ext cx="4389120" cy="41148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Structured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Development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Milestone-based: Research → Implement → Test → Validate → Proceed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846320" cy="658368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1. Input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4846320" cy="658368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2. PDF/Image Conversion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4846320" cy="658368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3. 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31720"/>
            <a:ext cx="4846320" cy="658368"/>
          </a:xfrm>
          <a:prstGeom prst="roundRect">
            <a:avLst/>
          </a:prstGeom>
          <a:solidFill>
            <a:srgbClr val="EBF0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4. OCR Benchmarking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4846320" cy="658368"/>
          </a:xfrm>
          <a:prstGeom prst="roundRect">
            <a:avLst/>
          </a:prstGeom>
          <a:solidFill>
            <a:srgbClr val="EBF0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5. OCR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4846320" cy="658368"/>
          </a:xfrm>
          <a:prstGeom prst="roundRect">
            <a:avLst/>
          </a:prstGeom>
          <a:solidFill>
            <a:srgbClr val="EBF0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6. Field &amp; Table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26279"/>
            <a:ext cx="4846320" cy="658368"/>
          </a:xfrm>
          <a:prstGeom prst="roundRect">
            <a:avLst/>
          </a:prstGeom>
          <a:solidFill>
            <a:srgbClr val="EBF0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7.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26279"/>
            <a:ext cx="4846320" cy="658368"/>
          </a:xfrm>
          <a:prstGeom prst="roundRect">
            <a:avLst/>
          </a:prstGeom>
          <a:solidFill>
            <a:srgbClr val="EBF0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8. Accuracy &amp;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Milestone 1 — Input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Completed and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92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PDF, JPG/JPEG and PNG validation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Corruption and encryption/password checks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PDF page counting and unsupported-format rejection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Batch validation with JSON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3291840" cy="68580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62D37"/>
                </a:solidFill>
              </a:defRPr>
            </a:pPr>
            <a:r>
              <a:t>65 total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423160"/>
            <a:ext cx="329184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62D37"/>
                </a:solidFill>
              </a:defRPr>
            </a:pPr>
            <a:r>
              <a:t>55 PDF  |  10 JPG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429000"/>
            <a:ext cx="3291840" cy="68580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62D37"/>
                </a:solidFill>
              </a:defRPr>
            </a:pPr>
            <a:r>
              <a:t>0 invalid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434840"/>
            <a:ext cx="329184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62D37"/>
                </a:solidFill>
              </a:defRPr>
            </a:pPr>
            <a:r>
              <a:t>69 total PDF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Milestone 2 — Common Image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Completed and 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286000" cy="7315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2286000" cy="7315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JPG / PNG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2286000" cy="73152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Standardized PNG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2194560"/>
            <a:ext cx="1371600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2194560"/>
            <a:ext cx="1371600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324612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200 DPI rendering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Grayscale output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One image per page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Traceable page-level filenames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166360"/>
            <a:ext cx="6309360" cy="68580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62D37"/>
                </a:solidFill>
              </a:defRPr>
            </a:pPr>
            <a:r>
              <a:t>65 input files  →  79 page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Milestone 3 — Duplicate &amp; Template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43000"/>
            <a:ext cx="3383280" cy="59436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62D37"/>
                </a:solidFill>
              </a:defRPr>
            </a:pPr>
            <a:r>
              <a:t>79 processed images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200400" y="1737360"/>
            <a:ext cx="2880360" cy="59436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1737360"/>
            <a:ext cx="2880360" cy="59436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2331720"/>
            <a:ext cx="4114800" cy="64008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62D37"/>
                </a:solidFill>
              </a:defRPr>
            </a:pPr>
            <a:r>
              <a:t>3A — Exact Duplicates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331720"/>
            <a:ext cx="4114800" cy="640080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62D37"/>
                </a:solidFill>
              </a:defRPr>
            </a:pPr>
            <a:r>
              <a:t>3B — Template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SHA-256 pixel hashing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65 unique images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11 duplicate groups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14 redundant copies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Perceptual hashing was tested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False positives on shared vendor layouts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Not used as a duplicate-deletion signal</a:t>
            </a:r>
          </a:p>
          <a:p>
            <a:pPr>
              <a:spcAft>
                <a:spcPts val="1000"/>
              </a:spcAft>
              <a:defRPr sz="1500">
                <a:solidFill>
                  <a:srgbClr val="262D37"/>
                </a:solidFill>
              </a:defRPr>
            </a:pPr>
            <a:r>
              <a:t>• Retained for possible template grouping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Milestone 3 — Orientation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Completed and visually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Input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01168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Orientation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Rotation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011680"/>
            <a:ext cx="201168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OCR-Ready 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359152"/>
            <a:ext cx="1005840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359152"/>
            <a:ext cx="1005840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0" y="2359152"/>
            <a:ext cx="274320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6576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Detect 0°, 90°, 180° or 270° orientation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Tesseract OSD + pytesseract used for orientation detection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Representative rotated invoice was visually checked after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Current Project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Input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051560"/>
            <a:ext cx="3291840" cy="347472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27048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PDF/image conversion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27048"/>
            <a:ext cx="3291840" cy="347472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02536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Exact duplicate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002536"/>
            <a:ext cx="3291840" cy="347472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78024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Template 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478024"/>
            <a:ext cx="3291840" cy="347472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Completed / reframed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53512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Orientation correction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53512"/>
            <a:ext cx="3291840" cy="347472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Deskew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429000"/>
            <a:ext cx="3291840" cy="347472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Next preprocessing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04487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OCR benchmarking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904487"/>
            <a:ext cx="3291840" cy="347472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Pending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79976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Field &amp; table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379976"/>
            <a:ext cx="3291840" cy="347472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Pending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55464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855464"/>
            <a:ext cx="3291840" cy="347472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Pending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30952"/>
            <a:ext cx="6583680" cy="34747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Accuracy benchmarking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5330952"/>
            <a:ext cx="3291840" cy="347472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Python 3.11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Main development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34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PyMuPDF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755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PDF validation, page counting and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234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Pillow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55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Image validation and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77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pytest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Automated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77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98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Exact duplicate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77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imagehash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98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Template similarity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20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Tesseract + pytesseract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41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Orientation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520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JSON + pathlib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41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Reports and file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520440"/>
            <a:ext cx="342900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Antigravity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4164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Development 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OCR Engine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Next major technical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43000"/>
            <a:ext cx="2743200" cy="59436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Invoice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2834640" cy="6400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Text Detection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331720" y="1737360"/>
            <a:ext cx="3703320" cy="50292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240280"/>
            <a:ext cx="2834640" cy="6400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Text Recognition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989320" y="1737360"/>
            <a:ext cx="45720" cy="50292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2240280"/>
            <a:ext cx="2834640" cy="6400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Layout Understanding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737360"/>
            <a:ext cx="3611880" cy="50292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06240" y="3703320"/>
            <a:ext cx="3749039" cy="68580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62D37"/>
                </a:solidFill>
              </a:defRPr>
            </a:pPr>
            <a:r>
              <a:t>Structured Invoice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10515600" cy="34747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PaddleOCR / PP-Structure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39512"/>
            <a:ext cx="10515600" cy="34747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Tesseract OCR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78424"/>
            <a:ext cx="10515600" cy="34747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Vision-Language / document models (e.g. DeepSeek-OCR)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Commercial OCR / API Alternatives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108960" cy="6400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AWS Textract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62D37"/>
                </a:solidFill>
              </a:defRPr>
            </a:pPr>
            <a:r>
              <a:t>Managed cloud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325880"/>
            <a:ext cx="3108960" cy="6400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Mindee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62D37"/>
                </a:solidFill>
              </a:defRPr>
            </a:pPr>
            <a:r>
              <a:t>Developer-focused OCR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25880"/>
            <a:ext cx="3108960" cy="6400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LlamaParse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62D37"/>
                </a:solidFill>
              </a:defRPr>
            </a:pPr>
            <a:r>
              <a:t>Document parsing / structured understanding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3886200"/>
            <a:ext cx="8412480" cy="77724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62D37"/>
                </a:solidFill>
              </a:defRPr>
            </a:pPr>
            <a:r>
              <a:t>Our Application → API → Structured Response → Verification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8348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Consider API cost and page-based pricing</a:t>
            </a:r>
          </a:p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Consider data privacy and external transmission</a:t>
            </a:r>
          </a:p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Consider rate limits and third-party dependency</a:t>
            </a:r>
          </a:p>
          <a:p>
            <a:pPr>
              <a:spcAft>
                <a:spcPts val="1000"/>
              </a:spcAft>
              <a:defRPr sz="1400">
                <a:solidFill>
                  <a:srgbClr val="262D37"/>
                </a:solidFill>
              </a:defRPr>
            </a:pPr>
            <a:r>
              <a:t>• Use as alternatives/fallbacks rather than assuming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Accuracy &amp; Verification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017520" cy="59436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OCR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926080" cy="6400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Pattern Checks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377440" y="1691640"/>
            <a:ext cx="3703320" cy="50292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2194560"/>
            <a:ext cx="2926080" cy="6400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Cross-field Checks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035040" y="1691640"/>
            <a:ext cx="45720" cy="50292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0" y="2194560"/>
            <a:ext cx="2926080" cy="6400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Mathematical Checks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691640"/>
            <a:ext cx="3611880" cy="50292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3520440"/>
            <a:ext cx="3566160" cy="64008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Confidence Evaluation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834640"/>
            <a:ext cx="0" cy="68580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4800600"/>
            <a:ext cx="2743200" cy="64008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800600"/>
            <a:ext cx="3291840" cy="640080"/>
          </a:xfrm>
          <a:prstGeom prst="roundRect">
            <a:avLst/>
          </a:prstGeom>
          <a:solidFill>
            <a:srgbClr val="F7EEE1"/>
          </a:solidFill>
          <a:ln w="15240">
            <a:solidFill>
              <a:srgbClr val="BE7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Needs Review / Fallback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474720" y="4160520"/>
            <a:ext cx="2606040" cy="6400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4160520"/>
            <a:ext cx="2423160" cy="6400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Traceability &amp; Data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92024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Original Invoice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2267712"/>
            <a:ext cx="411480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34639" y="1920240"/>
            <a:ext cx="192024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Processed 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79" y="2267712"/>
            <a:ext cx="411481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66359" y="1920240"/>
            <a:ext cx="192024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OCR Result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2267712"/>
            <a:ext cx="411479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79" y="1920240"/>
            <a:ext cx="1920240" cy="68580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Extracted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19" y="2267712"/>
            <a:ext cx="411481" cy="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29800" y="1920240"/>
            <a:ext cx="1920240" cy="68580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Verification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Original invoice files remain untouched.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Generated outputs are stored separately from source files.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JSON reports preserve processing traceability.</a:t>
            </a:r>
          </a:p>
          <a:p>
            <a:pPr>
              <a:spcAft>
                <a:spcPts val="1000"/>
              </a:spcAft>
              <a:defRPr sz="1700">
                <a:solidFill>
                  <a:srgbClr val="262D37"/>
                </a:solidFill>
              </a:defRPr>
            </a:pPr>
            <a:r>
              <a:t>• Every output should remain linked to its originating document/page.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What Has Been Achieved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3200400" cy="59436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Input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Multi-format validation</a:t>
            </a:r>
          </a:p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Corruption/encryption checks</a:t>
            </a:r>
          </a:p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Batch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143000"/>
            <a:ext cx="3200400" cy="59436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Image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PDF → image conversion</a:t>
            </a:r>
          </a:p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200 DPI grayscale PNG</a:t>
            </a:r>
          </a:p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Traceable page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43000"/>
            <a:ext cx="3200400" cy="59436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62D37"/>
                </a:solidFill>
              </a:defRPr>
            </a:pPr>
            <a: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Exact duplicate detection</a:t>
            </a:r>
          </a:p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Template similarity analysis</a:t>
            </a:r>
          </a:p>
          <a:p>
            <a:pPr>
              <a:spcAft>
                <a:spcPts val="1000"/>
              </a:spcAft>
              <a:defRPr sz="1300">
                <a:solidFill>
                  <a:srgbClr val="262D37"/>
                </a:solidFill>
              </a:defRPr>
            </a:pPr>
            <a:r>
              <a:t>• Orientation correction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343400"/>
            <a:ext cx="8503920" cy="77724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62D37"/>
                </a:solidFill>
              </a:defRPr>
            </a:pPr>
            <a:r>
              <a:t>65 input files → 79 page images → 65 unique images → 14 redundant copies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486400"/>
            <a:ext cx="667512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Foundation established before OCR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Remaining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Complete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Benchmark OCR candidates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Select OCR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Implement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Extract fields &amp;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46120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Build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79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Benchmark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97679"/>
            <a:ext cx="4846320" cy="621792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Optimize for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Target Final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05840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Invoice Upload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444752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627632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Validation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066544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2249424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Normalization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688336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2871216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Preprocessing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310128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3493008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OCR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931920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0" y="4114800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Field/Table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553712"/>
            <a:ext cx="0" cy="182880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4736592"/>
            <a:ext cx="4846320" cy="438912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Verification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175504"/>
            <a:ext cx="0" cy="182879"/>
          </a:xfrm>
          <a:prstGeom prst="line">
            <a:avLst/>
          </a:prstGeom>
          <a:ln w="25400">
            <a:solidFill>
              <a:srgbClr val="2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5358384"/>
            <a:ext cx="4846320" cy="438912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JSON / Excel /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04C"/>
                </a:solidFill>
              </a:defRPr>
            </a:pPr>
            <a:r>
              <a:t>Key Technical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051560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PDF, JPG, JPEG, PNG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51560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Standardization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051560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200 DPI grayscale 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39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Exact 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148839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SHA-256 pixel hashing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48839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Template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148839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Separate from duplicate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Orientation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246120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Tesseract OSD + pytesseract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46120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Data 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246120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Original files never modified/deleted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4343400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343400"/>
            <a:ext cx="2011680" cy="502920"/>
          </a:xfrm>
          <a:prstGeom prst="roundRect">
            <a:avLst/>
          </a:prstGeom>
          <a:solidFill>
            <a:srgbClr val="E1EBF7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62D37"/>
                </a:solidFill>
              </a:defRPr>
            </a:pPr>
            <a:r>
              <a:t>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343400"/>
            <a:ext cx="2423160" cy="50292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62D37"/>
                </a:solidFill>
              </a:defRPr>
            </a:pPr>
            <a:r>
              <a:t>pytest + real dataset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623560"/>
            <a:ext cx="9875520" cy="594360"/>
          </a:xfrm>
          <a:prstGeom prst="roundRect">
            <a:avLst/>
          </a:prstGeom>
          <a:solidFill>
            <a:srgbClr val="E1F0E6"/>
          </a:solidFill>
          <a:ln w="15240">
            <a:solidFill>
              <a:srgbClr val="3E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62D37"/>
                </a:solidFill>
              </a:defRPr>
            </a:pPr>
            <a:r>
              <a:t>Core philosophy: Accuracy first → Traceability → Modularity → Benchmark before final model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Project Status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241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Completed: Input validation, normalization, exact duplicate detection, template analysis, orientation correction and automated testing.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Next: OCR benchmarking → extraction → verification → accuracy benchmarking → production optimization.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The preprocessing foundation is established; the next major phase is OCR engine selection and structured invoice-data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21706" y="6021275"/>
            <a:ext cx="151810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7E1EB"/>
                </a:solidFill>
              </a:defRPr>
            </a:pPr>
            <a:r>
              <a:rPr dirty="0"/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901</Words>
  <Application>Microsoft Office PowerPoint</Application>
  <PresentationFormat>Widescreen</PresentationFormat>
  <Paragraphs>236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</dc:creator>
  <cp:keywords/>
  <dc:description>generated using python-pptx</dc:description>
  <cp:lastModifiedBy>Om Karande</cp:lastModifiedBy>
  <cp:revision>2</cp:revision>
  <dcterms:created xsi:type="dcterms:W3CDTF">2013-01-27T09:14:16Z</dcterms:created>
  <dcterms:modified xsi:type="dcterms:W3CDTF">2026-09-21T07:00:50Z</dcterms:modified>
  <cp:category/>
</cp:coreProperties>
</file>